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0" r:id="rId2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4" r:id="rId12"/>
  </p:sldIdLst>
  <p:sldSz cx="12192000" cy="6858000"/>
  <p:notesSz cx="6858000" cy="9144000"/>
  <p:embeddedFontLst>
    <p:embeddedFont>
      <p:font typeface="Gill Sans" panose="020B0604020202020204" charset="0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" roundtripDataSignature="AMtx7mhVWvqTgmO71W2HpCbHCgyTPhdK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customschemas.google.com/relationships/presentationmetadata" Target="metadata"/><Relationship Id="rId2" Type="http://schemas.openxmlformats.org/officeDocument/2006/relationships/slideMaster" Target="slideMasters/slideMaster2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623003705_0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38623003705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8623003705_0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g38623003705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8623003705_0_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g38623003705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>
          <a:extLst>
            <a:ext uri="{FF2B5EF4-FFF2-40B4-BE49-F238E27FC236}">
              <a16:creationId xmlns:a16="http://schemas.microsoft.com/office/drawing/2014/main" id="{34FBBB2A-225A-C20C-EE6D-883EB31D4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>
            <a:extLst>
              <a:ext uri="{FF2B5EF4-FFF2-40B4-BE49-F238E27FC236}">
                <a16:creationId xmlns:a16="http://schemas.microsoft.com/office/drawing/2014/main" id="{E3F9B021-833B-E0B1-6255-87BF20AA2A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8:notes">
            <a:extLst>
              <a:ext uri="{FF2B5EF4-FFF2-40B4-BE49-F238E27FC236}">
                <a16:creationId xmlns:a16="http://schemas.microsoft.com/office/drawing/2014/main" id="{BA12E142-0371-630F-33D6-A68DE756A5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8018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bg>
      <p:bgPr>
        <a:solidFill>
          <a:schemeClr val="accent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6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6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bg>
      <p:bgPr>
        <a:solidFill>
          <a:schemeClr val="accent2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4"/>
          <p:cNvSpPr txBox="1"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rgbClr val="FEFEFE"/>
                </a:solidFill>
              </a:defRPr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6" name="Google Shape;36;p1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4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bg>
      <p:bgPr>
        <a:solidFill>
          <a:schemeClr val="accent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7"/>
          <p:cNvSpPr txBox="1"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prstGeom prst="rect">
            <a:avLst/>
          </a:prstGeom>
          <a:solidFill>
            <a:srgbClr val="FFFFFF"/>
          </a:solidFill>
          <a:ln w="38100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Gill Sans"/>
              <a:buNone/>
              <a:defRPr sz="38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7"/>
          <p:cNvSpPr txBox="1"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17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7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8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body" idx="1"/>
          </p:nvPr>
        </p:nvSpPr>
        <p:spPr>
          <a:xfrm>
            <a:off x="1581912" y="2638044"/>
            <a:ext cx="4271771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body" idx="2"/>
          </p:nvPr>
        </p:nvSpPr>
        <p:spPr>
          <a:xfrm>
            <a:off x="6338315" y="2638044"/>
            <a:ext cx="4270247" cy="3101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8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8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8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9"/>
          <p:cNvSpPr txBox="1"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19"/>
          <p:cNvSpPr txBox="1">
            <a:spLocks noGrp="1"/>
          </p:cNvSpPr>
          <p:nvPr>
            <p:ph type="body" idx="2"/>
          </p:nvPr>
        </p:nvSpPr>
        <p:spPr>
          <a:xfrm>
            <a:off x="1583436" y="3143250"/>
            <a:ext cx="4270248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9"/>
          <p:cNvSpPr txBox="1">
            <a:spLocks noGrp="1"/>
          </p:cNvSpPr>
          <p:nvPr>
            <p:ph type="body" idx="3"/>
          </p:nvPr>
        </p:nvSpPr>
        <p:spPr>
          <a:xfrm>
            <a:off x="6338316" y="3143250"/>
            <a:ext cx="4253484" cy="25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body" idx="4"/>
          </p:nvPr>
        </p:nvSpPr>
        <p:spPr>
          <a:xfrm>
            <a:off x="6338316" y="2313433"/>
            <a:ext cx="4270248" cy="704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0" cap="none">
                <a:solidFill>
                  <a:srgbClr val="6B8890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9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0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1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1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21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2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22"/>
          <p:cNvSpPr txBox="1"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2"/>
          <p:cNvSpPr txBox="1">
            <a:spLocks noGrp="1"/>
          </p:cNvSpPr>
          <p:nvPr>
            <p:ph type="body" idx="1"/>
          </p:nvPr>
        </p:nvSpPr>
        <p:spPr>
          <a:xfrm>
            <a:off x="6736080" y="804672"/>
            <a:ext cx="4815840" cy="5248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925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900"/>
              <a:buChar char="•"/>
              <a:defRPr sz="1900">
                <a:solidFill>
                  <a:schemeClr val="dk1"/>
                </a:solidFill>
              </a:defRPr>
            </a:lvl1pPr>
            <a:lvl2pPr marL="914400" lvl="1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3pPr>
            <a:lvl4pPr marL="1828800" lvl="3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>
                <a:solidFill>
                  <a:schemeClr val="dk1"/>
                </a:solidFill>
              </a:defRPr>
            </a:lvl5pPr>
            <a:lvl6pPr marL="2743200" lvl="5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74" name="Google Shape;74;p22"/>
          <p:cNvSpPr txBox="1">
            <a:spLocks noGrp="1"/>
          </p:cNvSpPr>
          <p:nvPr>
            <p:ph type="body" idx="2"/>
          </p:nvPr>
        </p:nvSpPr>
        <p:spPr>
          <a:xfrm>
            <a:off x="1115568" y="3549918"/>
            <a:ext cx="3794760" cy="2194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22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2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3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3"/>
          <p:cNvSpPr txBox="1"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4040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1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200"/>
              <a:buFont typeface="Gill Sans"/>
              <a:buNone/>
              <a:defRPr sz="2200">
                <a:solidFill>
                  <a:srgbClr val="26262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3"/>
          <p:cNvSpPr>
            <a:spLocks noGrp="1"/>
          </p:cNvSpPr>
          <p:nvPr>
            <p:ph type="pic" idx="2"/>
          </p:nvPr>
        </p:nvSpPr>
        <p:spPr>
          <a:xfrm>
            <a:off x="6095999" y="0"/>
            <a:ext cx="6102097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82" name="Google Shape;82;p23"/>
          <p:cNvSpPr txBox="1">
            <a:spLocks noGrp="1"/>
          </p:cNvSpPr>
          <p:nvPr>
            <p:ph type="body" idx="1"/>
          </p:nvPr>
        </p:nvSpPr>
        <p:spPr>
          <a:xfrm>
            <a:off x="1115568" y="3549918"/>
            <a:ext cx="3794760" cy="2194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1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FFFFFF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5pPr>
            <a:lvl6pPr marL="2743200" lvl="5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6pPr>
            <a:lvl7pPr marL="3200400" lvl="6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7pPr>
            <a:lvl8pPr marL="3657600" lvl="7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8pPr>
            <a:lvl9pPr marL="4114800" lvl="8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3" name="Google Shape;83;p23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3"/>
          <p:cNvSpPr txBox="1">
            <a:spLocks noGrp="1"/>
          </p:cNvSpPr>
          <p:nvPr>
            <p:ph type="ftr" idx="11"/>
          </p:nvPr>
        </p:nvSpPr>
        <p:spPr>
          <a:xfrm>
            <a:off x="804672" y="6236208"/>
            <a:ext cx="5124797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FFFFFF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3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4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4"/>
          <p:cNvSpPr txBox="1">
            <a:spLocks noGrp="1"/>
          </p:cNvSpPr>
          <p:nvPr>
            <p:ph type="body" idx="1"/>
          </p:nvPr>
        </p:nvSpPr>
        <p:spPr>
          <a:xfrm rot="5400000">
            <a:off x="4545009" y="324172"/>
            <a:ext cx="3101983" cy="77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24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4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4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5"/>
          <p:cNvSpPr txBox="1">
            <a:spLocks noGrp="1"/>
          </p:cNvSpPr>
          <p:nvPr>
            <p:ph type="title"/>
          </p:nvPr>
        </p:nvSpPr>
        <p:spPr>
          <a:xfrm rot="5400000">
            <a:off x="6810676" y="2779696"/>
            <a:ext cx="4983480" cy="1298608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5"/>
          <p:cNvSpPr txBox="1">
            <a:spLocks noGrp="1"/>
          </p:cNvSpPr>
          <p:nvPr>
            <p:ph type="body" idx="1"/>
          </p:nvPr>
        </p:nvSpPr>
        <p:spPr>
          <a:xfrm rot="5400000">
            <a:off x="2838641" y="329756"/>
            <a:ext cx="4983480" cy="61984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5" name="Google Shape;95;p25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25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25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/>
            </a:lvl1pPr>
            <a:lvl2pPr marL="0" lvl="1" indent="0" algn="ctr">
              <a:spcBef>
                <a:spcPts val="0"/>
              </a:spcBef>
              <a:buNone/>
              <a:defRPr/>
            </a:lvl2pPr>
            <a:lvl3pPr marL="0" lvl="2" indent="0" algn="ctr">
              <a:spcBef>
                <a:spcPts val="0"/>
              </a:spcBef>
              <a:buNone/>
              <a:defRPr/>
            </a:lvl3pPr>
            <a:lvl4pPr marL="0" lvl="3" indent="0" algn="ctr">
              <a:spcBef>
                <a:spcPts val="0"/>
              </a:spcBef>
              <a:buNone/>
              <a:defRPr/>
            </a:lvl4pPr>
            <a:lvl5pPr marL="0" lvl="4" indent="0" algn="ctr">
              <a:spcBef>
                <a:spcPts val="0"/>
              </a:spcBef>
              <a:buNone/>
              <a:defRPr/>
            </a:lvl5pPr>
            <a:lvl6pPr marL="0" lvl="5" indent="0" algn="ctr">
              <a:spcBef>
                <a:spcPts val="0"/>
              </a:spcBef>
              <a:buNone/>
              <a:defRPr/>
            </a:lvl6pPr>
            <a:lvl7pPr marL="0" lvl="6" indent="0" algn="ctr">
              <a:spcBef>
                <a:spcPts val="0"/>
              </a:spcBef>
              <a:buNone/>
              <a:defRPr/>
            </a:lvl7pPr>
            <a:lvl8pPr marL="0" lvl="7" indent="0" algn="ctr">
              <a:spcBef>
                <a:spcPts val="0"/>
              </a:spcBef>
              <a:buNone/>
              <a:defRPr/>
            </a:lvl8pPr>
            <a:lvl9pPr marL="0" lvl="8" indent="0" algn="ctr">
              <a:spcBef>
                <a:spcPts val="0"/>
              </a:spcBef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sz="2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 rtl="0">
              <a:spcBef>
                <a:spcPts val="0"/>
              </a:spcBef>
              <a:buNone/>
              <a:defRPr sz="11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 cmpd="sng">
            <a:solidFill>
              <a:srgbClr val="40404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82875" tIns="182875" rIns="182875" bIns="182875" anchor="ctr" anchorCtr="0">
            <a:norm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800"/>
              <a:buFont typeface="Gill Sans"/>
              <a:buNone/>
              <a:defRPr sz="2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12"/>
          <p:cNvSpPr txBox="1"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4" name="Google Shape;24;p12"/>
          <p:cNvSpPr txBox="1">
            <a:spLocks noGrp="1"/>
          </p:cNvSpPr>
          <p:nvPr>
            <p:ph type="dt" idx="10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5" name="Google Shape;25;p12"/>
          <p:cNvSpPr txBox="1">
            <a:spLocks noGrp="1"/>
          </p:cNvSpPr>
          <p:nvPr>
            <p:ph type="ftr" idx="11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26" name="Google Shape;26;p12"/>
          <p:cNvSpPr>
            <a:spLocks noGrp="1"/>
          </p:cNvSpPr>
          <p:nvPr>
            <p:ph type="sldNum" idx="12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3"/>
            </a:srgbClr>
          </a:solidFill>
          <a:ln>
            <a:noFill/>
          </a:ln>
        </p:spPr>
        <p:txBody>
          <a:bodyPr spcFirstLastPara="1" wrap="square" lIns="18275" tIns="45700" rIns="1827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100" b="0" u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ctr" rtl="0">
              <a:spcBef>
                <a:spcPts val="0"/>
              </a:spcBef>
              <a:buNone/>
              <a:defRPr sz="1100" b="0" u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ctr" rtl="0">
              <a:spcBef>
                <a:spcPts val="0"/>
              </a:spcBef>
              <a:buNone/>
              <a:defRPr sz="1100" b="0" u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ctr" rtl="0">
              <a:spcBef>
                <a:spcPts val="0"/>
              </a:spcBef>
              <a:buNone/>
              <a:defRPr sz="1100" b="0" u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ctr" rtl="0">
              <a:spcBef>
                <a:spcPts val="0"/>
              </a:spcBef>
              <a:buNone/>
              <a:defRPr sz="1100" b="0" u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ctr" rtl="0">
              <a:spcBef>
                <a:spcPts val="0"/>
              </a:spcBef>
              <a:buNone/>
              <a:defRPr sz="1100" b="0" u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ctr" rtl="0">
              <a:spcBef>
                <a:spcPts val="0"/>
              </a:spcBef>
              <a:buNone/>
              <a:defRPr sz="1100" b="0" u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ctr" rtl="0">
              <a:spcBef>
                <a:spcPts val="0"/>
              </a:spcBef>
              <a:buNone/>
              <a:defRPr sz="1100" b="0" u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ctr" rtl="0">
              <a:spcBef>
                <a:spcPts val="0"/>
              </a:spcBef>
              <a:buNone/>
              <a:defRPr sz="1100" b="0" u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subTitle" idx="1"/>
          </p:nvPr>
        </p:nvSpPr>
        <p:spPr>
          <a:xfrm>
            <a:off x="8318763" y="4904716"/>
            <a:ext cx="2646352" cy="833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Gill Sans"/>
              <a:buChar char="-"/>
            </a:pPr>
            <a:r>
              <a:rPr lang="es-ES"/>
              <a:t>- Joaquín Rodríguez</a:t>
            </a:r>
            <a:endParaRPr/>
          </a:p>
          <a:p>
            <a:pPr marL="342900" lvl="0" indent="-3429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Gill Sans"/>
              <a:buChar char="-"/>
            </a:pPr>
            <a:r>
              <a:rPr lang="es-ES"/>
              <a:t>- Juan Badilla</a:t>
            </a:r>
            <a:endParaRPr/>
          </a:p>
        </p:txBody>
      </p:sp>
      <p:sp>
        <p:nvSpPr>
          <p:cNvPr id="103" name="Google Shape;103;p1"/>
          <p:cNvSpPr txBox="1"/>
          <p:nvPr/>
        </p:nvSpPr>
        <p:spPr>
          <a:xfrm>
            <a:off x="2715475" y="2243850"/>
            <a:ext cx="6948000" cy="9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56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Proyecto “Tu Rumi”</a:t>
            </a:r>
            <a:endParaRPr sz="56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4" name="Google Shape;104;p1"/>
          <p:cNvSpPr txBox="1"/>
          <p:nvPr/>
        </p:nvSpPr>
        <p:spPr>
          <a:xfrm>
            <a:off x="5408422" y="3198160"/>
            <a:ext cx="1562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Capstone</a:t>
            </a:r>
            <a:endParaRPr sz="24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05" name="Google Shape;105;p1" descr="Logotip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9709" y="203484"/>
            <a:ext cx="3385998" cy="833273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"/>
          <p:cNvSpPr txBox="1"/>
          <p:nvPr/>
        </p:nvSpPr>
        <p:spPr>
          <a:xfrm>
            <a:off x="1461564" y="5133870"/>
            <a:ext cx="2507813" cy="374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Arial"/>
              <a:buNone/>
            </a:pPr>
            <a:r>
              <a:rPr lang="es-ES" sz="2000" b="0" u="none">
                <a:solidFill>
                  <a:srgbClr val="FEFEFE"/>
                </a:solidFill>
                <a:latin typeface="Gill Sans"/>
                <a:ea typeface="Gill Sans"/>
                <a:cs typeface="Gill Sans"/>
                <a:sym typeface="Gill Sans"/>
              </a:rPr>
              <a:t>Aldo Alberto Martínez</a:t>
            </a:r>
            <a:endParaRPr sz="2000" b="0" u="none">
              <a:solidFill>
                <a:srgbClr val="FEFEF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"/>
          <p:cNvSpPr txBox="1"/>
          <p:nvPr/>
        </p:nvSpPr>
        <p:spPr>
          <a:xfrm>
            <a:off x="5125698" y="722524"/>
            <a:ext cx="1940603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800" b="1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Índice</a:t>
            </a:r>
            <a:endParaRPr sz="4800" b="1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12" name="Google Shape;112;p2"/>
          <p:cNvSpPr txBox="1">
            <a:spLocks noGrp="1"/>
          </p:cNvSpPr>
          <p:nvPr>
            <p:ph type="body" idx="1"/>
          </p:nvPr>
        </p:nvSpPr>
        <p:spPr>
          <a:xfrm>
            <a:off x="2231136" y="1778745"/>
            <a:ext cx="7729800" cy="37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es-ES" sz="1600" dirty="0"/>
              <a:t>Contexto …………………………………………………………………………………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</a:pPr>
            <a:r>
              <a:rPr lang="es-ES" sz="1600" dirty="0"/>
              <a:t>Corrección …………………………………………………………………………………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</a:pPr>
            <a:r>
              <a:rPr lang="es-ES" sz="1600" dirty="0"/>
              <a:t>Requerimientos …..…………………………………………………………………………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</a:pPr>
            <a:r>
              <a:rPr lang="es-ES" sz="1600" dirty="0"/>
              <a:t>Plan de trabajo ………………………………………………………………………………</a:t>
            </a:r>
            <a:endParaRPr sz="1600" dirty="0"/>
          </a:p>
          <a:p>
            <a:pPr marL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</a:pPr>
            <a:r>
              <a:rPr lang="es-ES" sz="1600" dirty="0"/>
              <a:t>Riesgos .………………………………………………………………………………………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</a:pPr>
            <a:r>
              <a:rPr lang="es-ES" sz="1600"/>
              <a:t>Aplicación …………………………………………………………………………………….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</a:pPr>
            <a:r>
              <a:rPr lang="es-ES" sz="1600" dirty="0"/>
              <a:t>Conclusión …………………………………………………………………………………….</a:t>
            </a:r>
            <a:endParaRPr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"/>
          <p:cNvSpPr txBox="1">
            <a:spLocks noGrp="1"/>
          </p:cNvSpPr>
          <p:nvPr>
            <p:ph type="body" idx="1"/>
          </p:nvPr>
        </p:nvSpPr>
        <p:spPr>
          <a:xfrm>
            <a:off x="1420050" y="1964825"/>
            <a:ext cx="9351900" cy="41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1600" u="sng"/>
              <a:t>Problema:</a:t>
            </a:r>
            <a:endParaRPr sz="1600" u="sng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u="sng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1600"/>
              <a:t>En las principales ciudades de Chile, los altos precios de arriendo dificultan el acceso a vivienda para jóvenes, estudiantes y profesionales. La única opción viable muchas veces es compartir vivienda, pero el proceso es complejo y poco seguro, ya que la búsqueda se realiza sin filtros de compatibilidad en redes sociales o portales genéricos.</a:t>
            </a:r>
            <a:endParaRPr sz="16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1600" u="sng"/>
              <a:t>Solución propuesta:</a:t>
            </a:r>
            <a:endParaRPr sz="1600" u="sng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u="sng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/>
              <a:t>Crear una aplicación similar a Tinder que conecte personas en busca de roommates según su compatibilidad. Habrá dos tipos de usuarios: quienes tienen un departamento y buscan compañero, y quienes necesitan un lugar donde vivir. La app permitirá filtrar por intereses, estilo de vida, presupuesto y preferencias de convivencia, facilitando una búsqueda rápida, segura y con mayor afinidad entre usuarios.</a:t>
            </a:r>
            <a:endParaRPr sz="1600"/>
          </a:p>
          <a:p>
            <a:pPr marL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</a:pPr>
            <a:endParaRPr sz="1600"/>
          </a:p>
        </p:txBody>
      </p:sp>
      <p:sp>
        <p:nvSpPr>
          <p:cNvPr id="118" name="Google Shape;118;p3"/>
          <p:cNvSpPr txBox="1"/>
          <p:nvPr/>
        </p:nvSpPr>
        <p:spPr>
          <a:xfrm>
            <a:off x="4626599" y="792575"/>
            <a:ext cx="29388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800" b="1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Contexto</a:t>
            </a:r>
            <a:endParaRPr sz="4800" b="1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"/>
          <p:cNvSpPr txBox="1"/>
          <p:nvPr/>
        </p:nvSpPr>
        <p:spPr>
          <a:xfrm>
            <a:off x="1498800" y="1880000"/>
            <a:ext cx="9194400" cy="45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rPr lang="es-ES" sz="16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A diferencia de la metodología pasada (Scrum) ahora el proyecto trabajará bajo la metodología scrum, la cual se adapta mejor a equipos pequeños y promueve un flujo de trabajo continuo.</a:t>
            </a:r>
            <a:endParaRPr sz="16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rPr lang="es-ES" sz="16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El trabajo se gestionará mediante un tablero KanBan en Jira, donde se mostrarán las siguientes etapas:</a:t>
            </a:r>
            <a:endParaRPr sz="16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457200" lvl="0" indent="-32258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Char char="●"/>
            </a:pPr>
            <a:r>
              <a:rPr lang="es-ES" sz="16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Por hacer (To Do)</a:t>
            </a:r>
            <a:endParaRPr sz="16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457200" lvl="0" indent="-32258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Char char="●"/>
            </a:pPr>
            <a:r>
              <a:rPr lang="es-ES" sz="16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En progreso</a:t>
            </a:r>
            <a:endParaRPr sz="16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457200" lvl="0" indent="-32258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ct val="100000"/>
              <a:buFont typeface="Gill Sans"/>
              <a:buChar char="●"/>
            </a:pPr>
            <a:r>
              <a:rPr lang="es-ES" sz="16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Completado</a:t>
            </a:r>
            <a:endParaRPr sz="16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Para efectos de planificación general, el proyecto se estructurará en 5 fases generales dentro de las 18 semanas totales. Estas fases no representan sprints, sino hitos de avance que orientan la evolución del proyecto:</a:t>
            </a:r>
            <a:endParaRPr sz="16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Fase 1: Definición y planificación del proyecto (Semanas 1-3) </a:t>
            </a:r>
            <a:endParaRPr sz="16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Fase 2: Desarrollo de funcionalidades principales (Semanas 4-9)</a:t>
            </a:r>
            <a:endParaRPr sz="16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Fase 3: Desarrollo de funcionalidades complementarias y mejoras (Semanas 10-13)</a:t>
            </a:r>
            <a:endParaRPr sz="16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Fase 4: Pruebas (Semanas 14-15)</a:t>
            </a:r>
            <a:endParaRPr sz="16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s-ES" sz="16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Fase 5: Validación final y entrega (Semanas 16-18)</a:t>
            </a:r>
            <a:endParaRPr sz="16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5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4359899" y="785100"/>
            <a:ext cx="34722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800" b="1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Corrección</a:t>
            </a:r>
            <a:endParaRPr sz="4800" b="1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8623003705_0_7"/>
          <p:cNvSpPr txBox="1"/>
          <p:nvPr/>
        </p:nvSpPr>
        <p:spPr>
          <a:xfrm>
            <a:off x="3730200" y="785100"/>
            <a:ext cx="47316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800" b="1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Requerimientos</a:t>
            </a:r>
            <a:endParaRPr sz="4800" b="1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30" name="Google Shape;130;g38623003705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9237" y="1957425"/>
            <a:ext cx="10493524" cy="424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8623003705_0_12"/>
          <p:cNvSpPr txBox="1"/>
          <p:nvPr/>
        </p:nvSpPr>
        <p:spPr>
          <a:xfrm>
            <a:off x="3831450" y="766200"/>
            <a:ext cx="45291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800" b="1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Plan de trabajo</a:t>
            </a:r>
            <a:endParaRPr sz="4800" b="1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36" name="Google Shape;136;g38623003705_0_12"/>
          <p:cNvPicPr preferRelativeResize="0"/>
          <p:nvPr/>
        </p:nvPicPr>
        <p:blipFill rotWithShape="1">
          <a:blip r:embed="rId3">
            <a:alphaModFix/>
          </a:blip>
          <a:srcRect r="30867"/>
          <a:stretch/>
        </p:blipFill>
        <p:spPr>
          <a:xfrm>
            <a:off x="471026" y="1924076"/>
            <a:ext cx="4934225" cy="449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g38623003705_0_12"/>
          <p:cNvPicPr preferRelativeResize="0"/>
          <p:nvPr/>
        </p:nvPicPr>
        <p:blipFill rotWithShape="1">
          <a:blip r:embed="rId4">
            <a:alphaModFix/>
          </a:blip>
          <a:srcRect r="22221" b="2524"/>
          <a:stretch/>
        </p:blipFill>
        <p:spPr>
          <a:xfrm>
            <a:off x="6057075" y="1924075"/>
            <a:ext cx="5663903" cy="4494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8623003705_0_16"/>
          <p:cNvSpPr txBox="1"/>
          <p:nvPr/>
        </p:nvSpPr>
        <p:spPr>
          <a:xfrm>
            <a:off x="4932000" y="775665"/>
            <a:ext cx="23280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800" b="1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Riesgos</a:t>
            </a:r>
            <a:endParaRPr sz="4800" b="1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43" name="Google Shape;143;g38623003705_0_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0588" y="2184149"/>
            <a:ext cx="10710826" cy="389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"/>
          <p:cNvSpPr txBox="1"/>
          <p:nvPr/>
        </p:nvSpPr>
        <p:spPr>
          <a:xfrm>
            <a:off x="2224050" y="704867"/>
            <a:ext cx="77439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800" b="1" dirty="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Aplicación</a:t>
            </a:r>
            <a:endParaRPr sz="4800" b="1" dirty="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7" name="Imagen 6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6F636854-70EF-EBA3-90A0-BE105992F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616" y="1535869"/>
            <a:ext cx="2333745" cy="5084453"/>
          </a:xfrm>
          <a:prstGeom prst="rect">
            <a:avLst/>
          </a:prstGeom>
        </p:spPr>
      </p:pic>
      <p:pic>
        <p:nvPicPr>
          <p:cNvPr id="9" name="Imagen 8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7EE9A339-5F6E-97D3-0128-CACC82B362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306" y="1535870"/>
            <a:ext cx="2309422" cy="5084453"/>
          </a:xfrm>
          <a:prstGeom prst="rect">
            <a:avLst/>
          </a:prstGeom>
        </p:spPr>
      </p:pic>
      <p:pic>
        <p:nvPicPr>
          <p:cNvPr id="11" name="Imagen 10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9E894433-4B28-6061-EB10-06BE83AE61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8673" y="1535867"/>
            <a:ext cx="2320757" cy="50844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>
          <a:extLst>
            <a:ext uri="{FF2B5EF4-FFF2-40B4-BE49-F238E27FC236}">
              <a16:creationId xmlns:a16="http://schemas.microsoft.com/office/drawing/2014/main" id="{8CDBF3C1-4251-F40E-C267-C96A4E074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">
            <a:extLst>
              <a:ext uri="{FF2B5EF4-FFF2-40B4-BE49-F238E27FC236}">
                <a16:creationId xmlns:a16="http://schemas.microsoft.com/office/drawing/2014/main" id="{B07EE06A-9801-D54F-0871-6403301F7823}"/>
              </a:ext>
            </a:extLst>
          </p:cNvPr>
          <p:cNvSpPr txBox="1"/>
          <p:nvPr/>
        </p:nvSpPr>
        <p:spPr>
          <a:xfrm>
            <a:off x="2224050" y="704867"/>
            <a:ext cx="77439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800" b="1" dirty="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Aplicación</a:t>
            </a:r>
            <a:endParaRPr sz="4800" b="1" dirty="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3" name="Imagen 2" descr="Pantalla de celular con imagen de hombre&#10;&#10;El contenido generado por IA puede ser incorrecto.">
            <a:extLst>
              <a:ext uri="{FF2B5EF4-FFF2-40B4-BE49-F238E27FC236}">
                <a16:creationId xmlns:a16="http://schemas.microsoft.com/office/drawing/2014/main" id="{C0A2CEB7-3F56-5950-7E3D-3BD0006EF4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48"/>
          <a:stretch>
            <a:fillRect/>
          </a:stretch>
        </p:blipFill>
        <p:spPr>
          <a:xfrm>
            <a:off x="6323109" y="1535867"/>
            <a:ext cx="2332598" cy="5084453"/>
          </a:xfrm>
          <a:prstGeom prst="rect">
            <a:avLst/>
          </a:prstGeom>
        </p:spPr>
      </p:pic>
      <p:pic>
        <p:nvPicPr>
          <p:cNvPr id="5" name="Imagen 4" descr="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59D2ACBB-2890-6261-E786-475A82EEF4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2698" y="1535867"/>
            <a:ext cx="2355466" cy="5084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610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1"/>
          <p:cNvSpPr txBox="1"/>
          <p:nvPr/>
        </p:nvSpPr>
        <p:spPr>
          <a:xfrm>
            <a:off x="2892545" y="822111"/>
            <a:ext cx="6406909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800" b="1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Conclusión</a:t>
            </a:r>
            <a:endParaRPr sz="4800" b="1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54" name="Google Shape;154;p11"/>
          <p:cNvSpPr txBox="1"/>
          <p:nvPr/>
        </p:nvSpPr>
        <p:spPr>
          <a:xfrm>
            <a:off x="1744500" y="2316300"/>
            <a:ext cx="8703000" cy="222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600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rPr>
              <a:t>En conclusión, esta segunda entrega del Proyecto APT ha sido un paso importante, ya que pasamos de la etapa de planificación a la puesta en marcha real del proyecto. En esta fase logramos avanzar bastante en el desarrollo, consolidando las decisiones técnicas y aplicando lo aprendido durante la carrera de una forma más práctica. Aunque todavía hay cosas por mejorar, sobre todo en la organización del tiempo y en completar algunas tareas secundarias, el progreso conseguido demuestra un buen ritmo de trabajo y compromiso con los objetivos.</a:t>
            </a:r>
            <a:endParaRPr sz="16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600">
              <a:solidFill>
                <a:srgbClr val="262626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quete">
  <a:themeElements>
    <a:clrScheme name="Paquete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aquete">
  <a:themeElements>
    <a:clrScheme name="Paquete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425</Words>
  <Application>Microsoft Office PowerPoint</Application>
  <PresentationFormat>Panorámica</PresentationFormat>
  <Paragraphs>40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Arial</vt:lpstr>
      <vt:lpstr>Gill Sans</vt:lpstr>
      <vt:lpstr>Paquete</vt:lpstr>
      <vt:lpstr>Paquete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JUAN . BADILLA MORALES</dc:creator>
  <cp:lastModifiedBy>JUAN . BADILLA MORALES</cp:lastModifiedBy>
  <cp:revision>2</cp:revision>
  <dcterms:created xsi:type="dcterms:W3CDTF">2025-09-01T00:18:04Z</dcterms:created>
  <dcterms:modified xsi:type="dcterms:W3CDTF">2025-10-21T00:27:08Z</dcterms:modified>
</cp:coreProperties>
</file>